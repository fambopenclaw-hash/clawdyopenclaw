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74320" y="6400800"/>
            <a:ext cx="1164031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20040" y="649224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0927D"/>
                </a:solidFill>
                <a:latin typeface="Calibri"/>
              </a:rPr>
              <a:t>PETRONAS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6510528"/>
            <a:ext cx="4114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© 2025 Petroliam Nasional Berhad (PETRONAS)  | 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09728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 i="0">
                <a:solidFill>
                  <a:srgbClr val="FFFFFF"/>
                </a:solidFill>
                <a:latin typeface="Calibri"/>
              </a:rPr>
              <a:t>REVISED PLAN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1031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0" i="0">
                <a:solidFill>
                  <a:srgbClr val="F5A623"/>
                </a:solidFill>
                <a:latin typeface="Calibri"/>
              </a:rPr>
              <a:t>@ 14th May 2026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114800" y="2834640"/>
            <a:ext cx="3959352" cy="4572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023360" y="3063240"/>
            <a:ext cx="4142232" cy="566928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023360" y="3063240"/>
            <a:ext cx="4142232" cy="5669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SUBSURFACE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38404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0" i="0">
                <a:solidFill>
                  <a:srgbClr val="CCCCCC"/>
                </a:solidFill>
                <a:latin typeface="Calibri"/>
              </a:rPr>
              <a:t>ERMAI Programme  •  LWD Technology  •  Log QC  •  BCO M1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201168"/>
            <a:ext cx="5486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  <a:latin typeface="Calibri"/>
              </a:rPr>
              <a:t>OVERVIEW</a:t>
            </a:r>
          </a:p>
        </p:txBody>
      </p:sp>
      <p:sp>
        <p:nvSpPr>
          <p:cNvPr id="6" name="Rectangle 5"/>
          <p:cNvSpPr/>
          <p:nvPr/>
        </p:nvSpPr>
        <p:spPr>
          <a:xfrm>
            <a:off x="9601200" y="274320"/>
            <a:ext cx="2286000" cy="50292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0" y="274320"/>
            <a:ext cx="2286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Calibri"/>
              </a:rPr>
              <a:t>SUBSURFACE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PETRONAS  |  © 2025 Petroliam Nasional Berhad (PETRONAS)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325880"/>
            <a:ext cx="640080" cy="6400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32588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2" name="Rectangle 11"/>
          <p:cNvSpPr/>
          <p:nvPr/>
        </p:nvSpPr>
        <p:spPr>
          <a:xfrm>
            <a:off x="1051560" y="1325880"/>
            <a:ext cx="10817352" cy="64008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143000" y="132588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ERMAI Log Conditioning – Jurassic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43000" y="194767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Expedite PP deliverables; slide deck + SPE paper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651760"/>
            <a:ext cx="640080" cy="6400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20040" y="265176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51560" y="2651760"/>
            <a:ext cx="10817352" cy="64008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143000" y="2651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LWD and ERMAI Introduction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43000" y="327355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Promote LWD &amp; ERMAI RTP to host authority for drilling &amp; DA efficiency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977639"/>
            <a:ext cx="640080" cy="6400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320040" y="3977639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51560" y="3977639"/>
            <a:ext cx="10817352" cy="64008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143000" y="3977639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ERMAI Interpretation (QC)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43000" y="4599431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QC YZR clastic &amp; carbonate logs; reduce redo interpretation time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20040" y="5303520"/>
            <a:ext cx="640080" cy="6400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320040" y="530352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51560" y="5303520"/>
            <a:ext cx="10817352" cy="64008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143000" y="530352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FFFFFF"/>
                </a:solidFill>
                <a:latin typeface="Calibri"/>
              </a:rPr>
              <a:t>ERMAI BCO (M1)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43000" y="5925312"/>
            <a:ext cx="9601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KL-led BCO milestone for M1 deployment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01168"/>
            <a:ext cx="594360" cy="6400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01168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ERMAI Log Conditioning – Jurassic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20" y="256032"/>
            <a:ext cx="1645920" cy="530352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0" y="256032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SUBSURFACE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1097280" cy="4114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344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261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1A6B"/>
                </a:solidFill>
                <a:latin typeface="Calibri"/>
              </a:rPr>
              <a:t>Fahmi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83080"/>
            <a:ext cx="1154887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27D"/>
                </a:solidFill>
                <a:latin typeface="Calibri"/>
              </a:rP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03120"/>
            <a:ext cx="105156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0">
                <a:solidFill>
                  <a:srgbClr val="000000"/>
                </a:solidFill>
                <a:latin typeface="Calibri"/>
              </a:rPr>
              <a:t>To expedite PP deliverables for Jurassic study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97480"/>
            <a:ext cx="5532120" cy="45720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KEY DELIVERABLES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46120"/>
            <a:ext cx="73152" cy="4572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46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Slide presentation — methodology &amp; value creation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813048"/>
            <a:ext cx="73152" cy="4572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813048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SPE paper / abstract (combined with Jurassic study)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126480" y="2697480"/>
            <a:ext cx="5742432" cy="45720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263640" y="2697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STATUS / NOTES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3246120"/>
            <a:ext cx="5742432" cy="685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3291840"/>
            <a:ext cx="5486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B05700"/>
                </a:solidFill>
                <a:latin typeface="Calibri"/>
              </a:rPr>
              <a:t>SPE paper / abstract: IN PROGRESS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4069080"/>
            <a:ext cx="5742432" cy="12801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41148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27D"/>
                </a:solidFill>
                <a:latin typeface="Calibri"/>
              </a:rPr>
              <a:t>FOCUS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263640" y="4434840"/>
            <a:ext cx="5394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Adoption &amp; stakeholder buy-in
Timely delivery of PP documents
Integration with wider Jurassic study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20040" y="5532120"/>
            <a:ext cx="11548872" cy="36576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5A623"/>
                </a:solidFill>
                <a:latin typeface="Calibri"/>
              </a:rPr>
              <a:t>📅  In Progress  —  Target: End of May 2026</a:t>
            </a:r>
          </a:p>
        </p:txBody>
      </p:sp>
      <p:sp>
        <p:nvSpPr>
          <p:cNvPr id="31" name="Rectangle 30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PETRONAS  |  © 2025 Petroliam Nasional Berhad (PETRONAS)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01168"/>
            <a:ext cx="594360" cy="6400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01168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LWD and ERMAI Introduction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20" y="256032"/>
            <a:ext cx="1645920" cy="530352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0" y="256032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SUBSURFACE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1097280" cy="4114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344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261872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1A6B"/>
                </a:solidFill>
                <a:latin typeface="Calibri"/>
              </a:rPr>
              <a:t>Ismail / Fahmi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83080"/>
            <a:ext cx="11548872" cy="77724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8288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27D"/>
                </a:solidFill>
                <a:latin typeface="Calibri"/>
              </a:rPr>
              <a:t>OBJECTIVE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210312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000000"/>
                </a:solidFill>
                <a:latin typeface="Calibri"/>
              </a:rPr>
              <a:t>Promote application of current technology (LWD &amp; ERMAI RTP) to host authority to improve drilling &amp; Data Acquisition efficiency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20040" y="2697480"/>
            <a:ext cx="5532120" cy="45720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" y="2697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KEY DELIVERABLES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246120"/>
            <a:ext cx="73152" cy="4572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2920" y="32461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LWD vs Wireline comparison pack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20040" y="3776472"/>
            <a:ext cx="73152" cy="4572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3776472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Pilot test proposal for LWD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306824"/>
            <a:ext cx="73152" cy="4572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2920" y="4306824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ERMAI RTP introduction material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320040" y="4837176"/>
            <a:ext cx="73152" cy="4572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4837176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Workshop / meeting session with TOC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126480" y="2697480"/>
            <a:ext cx="5742432" cy="45720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263640" y="26974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PLAN / ACTIVITIES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126480" y="3246120"/>
            <a:ext cx="73152" cy="4572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309360" y="32461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Discuss LWD application for Garraf with well team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26480" y="3776472"/>
            <a:ext cx="73152" cy="4572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309360" y="3776472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Prepare detailed LWD vs Wireline comparison (pros, time &amp; cost savings)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126480" y="4306824"/>
            <a:ext cx="73152" cy="4572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309360" y="4306824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Convince for pilot test LWD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26480" y="4837176"/>
            <a:ext cx="73152" cy="4572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309360" y="4837176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Introduce ERMAI: LWD integration with ERMAI RTP (future autonomous operation)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126480" y="5367528"/>
            <a:ext cx="73152" cy="4572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309360" y="536752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444444"/>
                </a:solidFill>
                <a:latin typeface="Calibri"/>
              </a:rPr>
              <a:t>Conduct workshop / meeting with TOC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20040" y="5532120"/>
            <a:ext cx="11548872" cy="36576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7200" y="553212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FOCUS:  Adoption &amp; Stakeholder Buy-in  —  Target: Q2 2026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PETRONAS  |  © 2025 Petroliam Nasional Berhad (PETRONAS)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01168"/>
            <a:ext cx="594360" cy="6400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01168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ERMAI Interpretation (QC)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20" y="256032"/>
            <a:ext cx="1645920" cy="530352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0" y="256032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SUBSURFACE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1097280" cy="4114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344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261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1A6B"/>
                </a:solidFill>
                <a:latin typeface="Calibri"/>
              </a:rPr>
              <a:t>Ismail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83080"/>
            <a:ext cx="5532120" cy="45720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7830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KEY DELIVERABLES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0040" y="2331720"/>
            <a:ext cx="73152" cy="4572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920" y="233172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ERMAI log QC output for YZR (clastic &amp; carbonate reservoirs)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126480" y="1783080"/>
            <a:ext cx="5742432" cy="45720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63640" y="178308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PLAN / ACTIVITIES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126480" y="2331720"/>
            <a:ext cx="73152" cy="4572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09360" y="233172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ERMAI log QC for YZR — clastic &amp; carbonate reservoirs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26480" y="2898648"/>
            <a:ext cx="73152" cy="4572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09360" y="2898648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Apply QC to reduce redo interpretation time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20040" y="3108960"/>
            <a:ext cx="11548872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320040" y="3108960"/>
            <a:ext cx="91440" cy="137160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48640" y="3154680"/>
            <a:ext cx="2743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27D"/>
                </a:solidFill>
                <a:latin typeface="Calibri"/>
              </a:rPr>
              <a:t>KEY EMPHASIS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3520440"/>
            <a:ext cx="5029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B1A6B"/>
                </a:solidFill>
                <a:latin typeface="Calibri"/>
              </a:rPr>
              <a:t>Time saving — avoid rework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48640" y="4069080"/>
            <a:ext cx="10789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44444"/>
                </a:solidFill>
                <a:latin typeface="Calibri"/>
              </a:rPr>
              <a:t>QC applied to YZR logs will reduce redundant reinterpretation cycles, directly improving throughput for the subsurface team.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20040" y="4617720"/>
            <a:ext cx="3474720" cy="12801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7200" y="46634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27D"/>
                </a:solidFill>
                <a:latin typeface="Calibri"/>
              </a:rPr>
              <a:t>⏱ TIME SAVING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50292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1A6B"/>
                </a:solidFill>
                <a:latin typeface="Calibri"/>
              </a:rPr>
              <a:t>Reduced Redo Cycles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54864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Avoids rework on YZR interpretation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977639" y="4617720"/>
            <a:ext cx="3931920" cy="12801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4114800" y="466344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27D"/>
                </a:solidFill>
                <a:latin typeface="Calibri"/>
              </a:rPr>
              <a:t>🎯 QUALITY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114800" y="5029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1A6B"/>
                </a:solidFill>
                <a:latin typeface="Calibri"/>
              </a:rPr>
              <a:t>Consistent Log QC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114800" y="54864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Standardised YZR clastic &amp; carbonate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092440" y="4617720"/>
            <a:ext cx="3776472" cy="12801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229600" y="4663440"/>
            <a:ext cx="3566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27D"/>
                </a:solidFill>
                <a:latin typeface="Calibri"/>
              </a:rPr>
              <a:t>📤 OUTPUT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29600" y="5029200"/>
            <a:ext cx="3566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1A6B"/>
                </a:solidFill>
                <a:latin typeface="Calibri"/>
              </a:rPr>
              <a:t>QC Report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229600" y="548640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44444"/>
                </a:solidFill>
                <a:latin typeface="Calibri"/>
              </a:rPr>
              <a:t>For both clastic &amp; carbonate reservoirs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PETRONAS  |  © 2025 Petroliam Nasional Berhad (PETRONAS)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5156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105156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20040" y="201168"/>
            <a:ext cx="594360" cy="6400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20040" y="201168"/>
            <a:ext cx="5943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01168"/>
            <a:ext cx="8686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  <a:latin typeface="Calibri"/>
              </a:rPr>
              <a:t>ERMAI BCO (M1)</a:t>
            </a:r>
          </a:p>
        </p:txBody>
      </p:sp>
      <p:sp>
        <p:nvSpPr>
          <p:cNvPr id="8" name="Rectangle 7"/>
          <p:cNvSpPr/>
          <p:nvPr/>
        </p:nvSpPr>
        <p:spPr>
          <a:xfrm>
            <a:off x="10332720" y="256032"/>
            <a:ext cx="1645920" cy="530352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0" y="256032"/>
            <a:ext cx="164592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SUBSURFACE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0040" y="1234440"/>
            <a:ext cx="1097280" cy="4114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" y="1234440"/>
            <a:ext cx="10972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FFFFFF"/>
                </a:solidFill>
                <a:latin typeface="Calibri"/>
              </a:rPr>
              <a:t>Owner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508760" y="126187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3B1A6B"/>
                </a:solidFill>
                <a:latin typeface="Calibri"/>
              </a:rPr>
              <a:t>KL Lead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20040" y="1783080"/>
            <a:ext cx="11548872" cy="18288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20040" y="1783080"/>
            <a:ext cx="91440" cy="18288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48640" y="1828800"/>
            <a:ext cx="3657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00927D"/>
                </a:solidFill>
                <a:latin typeface="Calibri"/>
              </a:rPr>
              <a:t>MILESTONE OVERVIEW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8640" y="219456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3B1A6B"/>
                </a:solidFill>
                <a:latin typeface="Calibri"/>
              </a:rPr>
              <a:t>Business Case Outline (BCO) — M1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2788920"/>
            <a:ext cx="107899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The ERMAI Business Case Outline for M1 marks a key decision gate, defining the value proposition and deployment roadmap for ERMAI technology as part of Petronas's digital transformation.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20040" y="3794760"/>
            <a:ext cx="5532120" cy="45720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7200" y="379476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KEY DELIVERABLES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26480" y="3794760"/>
            <a:ext cx="5742432" cy="45720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63640" y="3794760"/>
            <a:ext cx="5394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  <a:latin typeface="Calibri"/>
              </a:rPr>
              <a:t>NOTES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320040" y="4325112"/>
            <a:ext cx="5532120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57200" y="4389120"/>
            <a:ext cx="5303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444444"/>
                </a:solidFill>
                <a:latin typeface="Calibri"/>
              </a:rPr>
              <a:t>Details to be confirmed by KL Lead
(pending further briefing)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126480" y="4325112"/>
            <a:ext cx="5742432" cy="82296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263640" y="4389120"/>
            <a:ext cx="5394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808080"/>
                </a:solidFill>
                <a:latin typeface="Calibri"/>
              </a:rPr>
              <a:t>Status: Awaiting KL Lead update
Next steps: internal alignment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20040" y="5303520"/>
            <a:ext cx="11548872" cy="365760"/>
          </a:xfrm>
          <a:prstGeom prst="rect">
            <a:avLst/>
          </a:prstGeom>
          <a:solidFill>
            <a:srgbClr val="E8F7F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20040" y="5303520"/>
            <a:ext cx="2743200" cy="36576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7200" y="5321808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  <a:latin typeface="Calibri"/>
              </a:rPr>
              <a:t>STATUS: PENDING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PETRONAS  |  © 2025 Petroliam Nasional Berhad (PETRONAS)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3B1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9728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32004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SUBSURFACE — SUMMARY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0" y="1005840"/>
            <a:ext cx="3044952" cy="45720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20040" y="1325880"/>
            <a:ext cx="4480560" cy="4754880"/>
          </a:xfrm>
          <a:prstGeom prst="rect">
            <a:avLst/>
          </a:prstGeom>
          <a:solidFill>
            <a:srgbClr val="4A2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240280" y="1463040"/>
            <a:ext cx="640080" cy="6400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24028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11479" y="224028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ERMAI Log Conditioning – Jurassic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" y="3200400"/>
            <a:ext cx="4206240" cy="365760"/>
          </a:xfrm>
          <a:prstGeom prst="rect">
            <a:avLst/>
          </a:prstGeom>
          <a:solidFill>
            <a:srgbClr val="3A1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7200" y="3200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👤 Fahmi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3657600"/>
            <a:ext cx="4206240" cy="45720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3657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In Progress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46120" y="1325880"/>
            <a:ext cx="4480560" cy="4754880"/>
          </a:xfrm>
          <a:prstGeom prst="rect">
            <a:avLst/>
          </a:prstGeom>
          <a:solidFill>
            <a:srgbClr val="4A2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166360" y="1463040"/>
            <a:ext cx="640080" cy="6400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6636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337560" y="224028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LWD and ERMAI Introduction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383279" y="3200400"/>
            <a:ext cx="4206240" cy="365760"/>
          </a:xfrm>
          <a:prstGeom prst="rect">
            <a:avLst/>
          </a:prstGeom>
          <a:solidFill>
            <a:srgbClr val="3A1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383279" y="3200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👤 Ismail / Fahmi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383279" y="3657600"/>
            <a:ext cx="4206240" cy="45720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383279" y="3657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Q2 2026 Target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1325880"/>
            <a:ext cx="4480560" cy="4754880"/>
          </a:xfrm>
          <a:prstGeom prst="rect">
            <a:avLst/>
          </a:prstGeom>
          <a:solidFill>
            <a:srgbClr val="4A2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092440" y="1463040"/>
            <a:ext cx="640080" cy="6400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09244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263640" y="2240280"/>
            <a:ext cx="42976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ERMAI Interpretation (QC)</a:t>
            </a:r>
          </a:p>
        </p:txBody>
      </p:sp>
      <p:sp>
        <p:nvSpPr>
          <p:cNvPr id="27" name="Rectangle 26"/>
          <p:cNvSpPr/>
          <p:nvPr/>
        </p:nvSpPr>
        <p:spPr>
          <a:xfrm>
            <a:off x="6309360" y="3200400"/>
            <a:ext cx="4206240" cy="365760"/>
          </a:xfrm>
          <a:prstGeom prst="rect">
            <a:avLst/>
          </a:prstGeom>
          <a:solidFill>
            <a:srgbClr val="3A1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09360" y="320040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👤 Ismail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309360" y="3657600"/>
            <a:ext cx="4206240" cy="457200"/>
          </a:xfrm>
          <a:prstGeom prst="rect">
            <a:avLst/>
          </a:prstGeom>
          <a:solidFill>
            <a:srgbClr val="00785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309360" y="3657600"/>
            <a:ext cx="4206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Time Saving Focus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98280" y="1325880"/>
            <a:ext cx="2697480" cy="4754880"/>
          </a:xfrm>
          <a:prstGeom prst="rect">
            <a:avLst/>
          </a:prstGeom>
          <a:solidFill>
            <a:srgbClr val="4A24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10126980" y="1463040"/>
            <a:ext cx="640080" cy="640080"/>
          </a:xfrm>
          <a:prstGeom prst="rect">
            <a:avLst/>
          </a:prstGeom>
          <a:solidFill>
            <a:srgbClr val="00927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0126980" y="1463040"/>
            <a:ext cx="640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9189719" y="2240280"/>
            <a:ext cx="2514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FFFFF"/>
                </a:solidFill>
                <a:latin typeface="Calibri"/>
              </a:rPr>
              <a:t>ERMAI BCO (M1)</a:t>
            </a:r>
          </a:p>
        </p:txBody>
      </p:sp>
      <p:sp>
        <p:nvSpPr>
          <p:cNvPr id="35" name="Rectangle 34"/>
          <p:cNvSpPr/>
          <p:nvPr/>
        </p:nvSpPr>
        <p:spPr>
          <a:xfrm>
            <a:off x="9235440" y="3200400"/>
            <a:ext cx="2423160" cy="365760"/>
          </a:xfrm>
          <a:prstGeom prst="rect">
            <a:avLst/>
          </a:prstGeom>
          <a:solidFill>
            <a:srgbClr val="3A1D6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35440" y="3200400"/>
            <a:ext cx="2423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👤 KL Lead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235440" y="3657600"/>
            <a:ext cx="2423160" cy="457200"/>
          </a:xfrm>
          <a:prstGeom prst="rect">
            <a:avLst/>
          </a:prstGeom>
          <a:solidFill>
            <a:srgbClr val="B05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235440" y="3657600"/>
            <a:ext cx="24231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Pending KL Update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0" y="6446520"/>
            <a:ext cx="12188952" cy="411480"/>
          </a:xfrm>
          <a:prstGeom prst="rect">
            <a:avLst/>
          </a:prstGeom>
          <a:solidFill>
            <a:srgbClr val="1A0D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274320" y="6400800"/>
            <a:ext cx="11640312" cy="36576"/>
          </a:xfrm>
          <a:prstGeom prst="rect">
            <a:avLst/>
          </a:prstGeom>
          <a:solidFill>
            <a:srgbClr val="F5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320040" y="649224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CCCCCC"/>
                </a:solidFill>
                <a:latin typeface="Calibri"/>
              </a:rPr>
              <a:t>PETRONAS  |  © 2025 Petroliam Nasional Berhad (PETRONAS)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418320" y="6492240"/>
            <a:ext cx="24688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 i="0">
                <a:solidFill>
                  <a:srgbClr val="CCCCCC"/>
                </a:solidFill>
                <a:latin typeface="Calibri"/>
              </a:rPr>
              <a:t>REVISED PLAN @ 14th May 2026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