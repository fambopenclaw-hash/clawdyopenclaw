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REVISED PLAN  @ 14th May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9784080" y="201168"/>
            <a:ext cx="2103120" cy="530352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201168"/>
            <a:ext cx="2103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SUBSURFACE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1179576"/>
            <a:ext cx="2788920" cy="516636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278892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21307" y="1252728"/>
            <a:ext cx="694944" cy="50292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1307" y="1252728"/>
            <a:ext cx="69494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56232"/>
            <a:ext cx="2606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3B1A6B"/>
                </a:solidFill>
                <a:latin typeface="Calibri"/>
              </a:rPr>
              <a:t>ERMAI Log Conditioning – Jurassic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24328"/>
            <a:ext cx="2423160" cy="36576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715768"/>
            <a:ext cx="2569463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0927D"/>
                </a:solidFill>
                <a:latin typeface="Calibri"/>
              </a:rPr>
              <a:t>Owner: Fahmi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79" y="3154679"/>
            <a:ext cx="54864" cy="32004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108960"/>
            <a:ext cx="244144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Slide presentation
(methodology &amp; value creation)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79" y="3813048"/>
            <a:ext cx="54864" cy="32004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767328"/>
            <a:ext cx="244144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SPE paper / abstract
(combined with Jurassic study)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5650992"/>
            <a:ext cx="2569463" cy="475488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5650992"/>
            <a:ext cx="2569463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36976" y="1179576"/>
            <a:ext cx="2788920" cy="516636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0" y="1143000"/>
            <a:ext cx="278892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47388" y="1252728"/>
            <a:ext cx="694944" cy="50292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47388" y="1252728"/>
            <a:ext cx="69494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1856232"/>
            <a:ext cx="2606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3B1A6B"/>
                </a:solidFill>
                <a:latin typeface="Calibri"/>
              </a:rPr>
              <a:t>LWD and ERMAI Introduction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2624328"/>
            <a:ext cx="2423160" cy="36576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0128" y="2715768"/>
            <a:ext cx="2569463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0927D"/>
                </a:solidFill>
                <a:latin typeface="Calibri"/>
              </a:rPr>
              <a:t>Owner: Ismail / Fahmi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3154679"/>
            <a:ext cx="54864" cy="32004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6432" y="3108960"/>
            <a:ext cx="244144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LWD vs Wireline comparison pack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3813048"/>
            <a:ext cx="54864" cy="32004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56432" y="3767328"/>
            <a:ext cx="244144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Pilot test proposal for LWD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4471416"/>
            <a:ext cx="54864" cy="32004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56432" y="4425696"/>
            <a:ext cx="244144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ERMAI RTP intro material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37560" y="5129783"/>
            <a:ext cx="54864" cy="32004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56432" y="5084064"/>
            <a:ext cx="244144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Workshop with TOC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10128" y="5650992"/>
            <a:ext cx="2569463" cy="47548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10128" y="5650992"/>
            <a:ext cx="2569463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Q2 2026 TARGET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63056" y="1179576"/>
            <a:ext cx="2788920" cy="516636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1143000"/>
            <a:ext cx="278892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73468" y="1252728"/>
            <a:ext cx="694944" cy="50292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73468" y="1252728"/>
            <a:ext cx="69494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1856232"/>
            <a:ext cx="2606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3B1A6B"/>
                </a:solidFill>
                <a:latin typeface="Calibri"/>
              </a:rPr>
              <a:t>ERMAI Interpretation (QC)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2624328"/>
            <a:ext cx="2423160" cy="36576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36208" y="2715768"/>
            <a:ext cx="2569463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0927D"/>
                </a:solidFill>
                <a:latin typeface="Calibri"/>
              </a:rPr>
              <a:t>Owner: Ismail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3154679"/>
            <a:ext cx="54864" cy="32004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82512" y="3108960"/>
            <a:ext cx="244144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ERMAI log QC for YZR
(clastic &amp; carbonate)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3813048"/>
            <a:ext cx="54864" cy="32004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82512" y="3767328"/>
            <a:ext cx="244144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Reduce redo interpretation
time — avoid rework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36208" y="5650992"/>
            <a:ext cx="2569463" cy="475488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6208" y="5650992"/>
            <a:ext cx="2569463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TIME SAVING FOCUS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89136" y="1179576"/>
            <a:ext cx="2788920" cy="516636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52560" y="1143000"/>
            <a:ext cx="278892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099548" y="1252728"/>
            <a:ext cx="694944" cy="50292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99548" y="1252728"/>
            <a:ext cx="69494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1856232"/>
            <a:ext cx="2606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3B1A6B"/>
                </a:solidFill>
                <a:latin typeface="Calibri"/>
              </a:rPr>
              <a:t>ERMAI BCO (M1)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5440" y="2624328"/>
            <a:ext cx="2423160" cy="36576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62288" y="2715768"/>
            <a:ext cx="2569463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0927D"/>
                </a:solidFill>
                <a:latin typeface="Calibri"/>
              </a:rPr>
              <a:t>Owner: KL Lead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89720" y="3154679"/>
            <a:ext cx="54864" cy="32004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08592" y="3108960"/>
            <a:ext cx="244144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Business Case Outline
for M1 deployment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89720" y="3813048"/>
            <a:ext cx="54864" cy="32004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08592" y="3767328"/>
            <a:ext cx="2441448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Value proposition &amp;
deployment roadmap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62288" y="5650992"/>
            <a:ext cx="2569463" cy="475488"/>
          </a:xfrm>
          <a:prstGeom prst="rect">
            <a:avLst/>
          </a:prstGeom>
          <a:solidFill>
            <a:srgbClr val="B0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62288" y="5650992"/>
            <a:ext cx="2569463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PENDING — KL UPDATE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0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74320" y="6428232"/>
            <a:ext cx="1164031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PETRONAS  |  © 2025 Petroliam Nasional Berhad (PETRONAS)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